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(15 sec): Good afternoon. We are [team names]. Imagine you are Urban Forestry on Monday morning: 290 tree reports open, one crew can visit a handful this week. Every resident believes their tree is urgent. Your job is not to declare trees safe or dangerous from a desk—you need to decide what order to drive to them in. That is the product we built.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(25 sec): Backlog age is real—some requests have waited months. But if we sorted purely by oldest-first, a tree actively leaning on power lines reported today would sit behind cosmetic pruning from last year. And if we sorted purely by severity, we would send a crew across town while three Medium jobs sit 200 meters apart on the same street. We needed both urgency and geography.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STORY (30 sec): Walk the judges through Jean-Luc on Quinpool—Critical, queue #1. Say explicitly: the system read the complaint, tagged hazards like powerline and leaning, fused photo when available, and applied the escalation floor so danger in the 90s cannot lose to wait time. The resident confirmation page shows a reference number only—no score—because a Low label is not a safety clearance.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(35 sec): Show the formula on the detail page if you can. Emphasize escalation: weighted score might be 72 but floor bumps Critical to 80 when danger ≥ 70. Then scroll to Same-Day Work Plan—this is not ‘five nearest’; it is best value for the remaining hours on the truck. Quinpool cluster demo is seeded on purpose.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 (25 sec): Next.js, strict backend/frontend split, scores recomputed on every read so wait time stays honest. Maps: Google server-side for detail; OpenStreetMap tiles on the dashboard—no key required for the queue map. Missing API keys never block a resident submission.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(45 sec): If live DB fails, use seeded 6410 Quinpool. Click map pin. Point at numbered bundle on map. Print preview poster. Close with: arborist on site still makes the call—we only stop the wrong tree waiting 96 days while a worse one sits three blocks away.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(15 sec): We give Urban Forestry a defensible queue, a map that matches the plan, and a field sheet crews can print. Next: resident email on close, duplicate confirm UI, rate limits.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2344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554480"/>
            <a:ext cx="8046720" cy="2011680"/>
          </a:xfrm>
          <a:prstGeom prst="rect">
            <a:avLst/>
          </a:prstGeom>
          <a:noFill/>
        </p:spPr>
        <p:txBody>
          <a:bodyPr wrap="square">
            <a:spAutoFit/>
          </a:bodyPr>
          <a:lstStyle/>
          <a:p>
            <a:pPr>
              <a:defRPr sz="4000" b="1">
                <a:solidFill>
                  <a:srgbClr val="0F172A"/>
                </a:solidFill>
              </a:defRPr>
            </a:pPr>
            <a:r>
              <a:t>Which Tree Falls First?</a:t>
            </a:r>
          </a:p>
          <a:p>
            <a:pPr>
              <a:spcBef>
                <a:spcPts val="1200"/>
              </a:spcBef>
              <a:defRPr sz="2000">
                <a:solidFill>
                  <a:srgbClr val="475569"/>
                </a:solidFill>
              </a:defRPr>
            </a:pPr>
            <a:r>
              <a:t>Inspection triage for HRM Urban Forestry</a:t>
            </a:r>
          </a:p>
        </p:txBody>
      </p:sp>
      <p:sp>
        <p:nvSpPr>
          <p:cNvPr id="4" name="TextBox 3"/>
          <p:cNvSpPr txBox="1"/>
          <p:nvPr/>
        </p:nvSpPr>
        <p:spPr>
          <a:xfrm>
            <a:off x="548640" y="6217920"/>
            <a:ext cx="7315200" cy="365760"/>
          </a:xfrm>
          <a:prstGeom prst="rect">
            <a:avLst/>
          </a:prstGeom>
          <a:noFill/>
        </p:spPr>
        <p:txBody>
          <a:bodyPr wrap="none">
            <a:spAutoFit/>
          </a:bodyPr>
          <a:lstStyle/>
          <a:p>
            <a:pPr>
              <a:defRPr sz="1100">
                <a:solidFill>
                  <a:srgbClr val="475569"/>
                </a:solidFill>
              </a:defRPr>
            </a:pPr>
            <a:r>
              <a:t>Halifax Regional Municipality · Urban Forestry · Hackathon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8229600" cy="731520"/>
          </a:xfrm>
          <a:prstGeom prst="rect">
            <a:avLst/>
          </a:prstGeom>
          <a:noFill/>
        </p:spPr>
        <p:txBody>
          <a:bodyPr wrap="none">
            <a:spAutoFit/>
          </a:bodyPr>
          <a:lstStyle/>
          <a:p>
            <a:pPr>
              <a:defRPr sz="2800" b="1">
                <a:solidFill>
                  <a:srgbClr val="0F172A"/>
                </a:solidFill>
              </a:defRPr>
            </a:pPr>
            <a:r>
              <a:t>The problem is a queue, not a verdict</a:t>
            </a:r>
          </a:p>
        </p:txBody>
      </p:sp>
      <p:sp>
        <p:nvSpPr>
          <p:cNvPr id="4" name="TextBox 3"/>
          <p:cNvSpPr txBox="1"/>
          <p:nvPr/>
        </p:nvSpPr>
        <p:spPr>
          <a:xfrm>
            <a:off x="502920" y="1143000"/>
            <a:ext cx="8229600" cy="5029200"/>
          </a:xfrm>
          <a:prstGeom prst="rect">
            <a:avLst/>
          </a:prstGeom>
          <a:noFill/>
        </p:spPr>
        <p:txBody>
          <a:bodyPr wrap="square">
            <a:spAutoFit/>
          </a:bodyPr>
          <a:lstStyle/>
          <a:p>
            <a:pPr>
              <a:spcAft>
                <a:spcPts val="1000"/>
              </a:spcAft>
              <a:defRPr sz="2000">
                <a:solidFill>
                  <a:srgbClr val="0F172A"/>
                </a:solidFill>
              </a:defRPr>
            </a:pPr>
            <a:r>
              <a:t>• ~290 open requests; crews reach only a handful per week</a:t>
            </a:r>
          </a:p>
          <a:p>
            <a:pPr>
              <a:spcAft>
                <a:spcPts val="1000"/>
              </a:spcAft>
              <a:defRPr sz="2000">
                <a:solidFill>
                  <a:srgbClr val="0F172A"/>
                </a:solidFill>
              </a:defRPr>
            </a:pPr>
            <a:r>
              <a:t>• Residents submit text + photo through a public form—no account</a:t>
            </a:r>
          </a:p>
          <a:p>
            <a:pPr>
              <a:spcAft>
                <a:spcPts val="1000"/>
              </a:spcAft>
              <a:defRPr sz="2000">
                <a:solidFill>
                  <a:srgbClr val="0F172A"/>
                </a:solidFill>
              </a:defRPr>
            </a:pPr>
            <a:r>
              <a:t>• Waiting time alone would starve a brand-new imminent hazard</a:t>
            </a:r>
          </a:p>
          <a:p>
            <a:pPr>
              <a:spcAft>
                <a:spcPts val="1000"/>
              </a:spcAft>
              <a:defRPr sz="2000">
                <a:solidFill>
                  <a:srgbClr val="0F172A"/>
                </a:solidFill>
              </a:defRPr>
            </a:pPr>
            <a:r>
              <a:t>• Same tree gets reported multiple times; duplicate trips waste shifts</a:t>
            </a:r>
          </a:p>
          <a:p>
            <a:pPr>
              <a:spcAft>
                <a:spcPts val="1000"/>
              </a:spcAft>
              <a:defRPr sz="1800">
                <a:solidFill>
                  <a:srgbClr val="475569"/>
                </a:solidFill>
              </a:defRPr>
            </a:pPr>
          </a:p>
          <a:p>
            <a:pPr>
              <a:spcAft>
                <a:spcPts val="1000"/>
              </a:spcAft>
              <a:defRPr sz="1800" i="1">
                <a:solidFill>
                  <a:srgbClr val="475569"/>
                </a:solidFill>
              </a:defRPr>
            </a:pPr>
            <a:r>
              <a:t>Product rule: the tool ranks inspection ORDER. It never certifies danger.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8229600" cy="731520"/>
          </a:xfrm>
          <a:prstGeom prst="rect">
            <a:avLst/>
          </a:prstGeom>
          <a:noFill/>
        </p:spPr>
        <p:txBody>
          <a:bodyPr wrap="none">
            <a:spAutoFit/>
          </a:bodyPr>
          <a:lstStyle/>
          <a:p>
            <a:pPr>
              <a:defRPr sz="2800" b="1">
                <a:solidFill>
                  <a:srgbClr val="0F172A"/>
                </a:solidFill>
              </a:defRPr>
            </a:pPr>
            <a:r>
              <a:t>Meet Jean-Luc’s report (our demo anchor)</a:t>
            </a:r>
          </a:p>
        </p:txBody>
      </p:sp>
      <p:sp>
        <p:nvSpPr>
          <p:cNvPr id="4" name="TextBox 3"/>
          <p:cNvSpPr txBox="1"/>
          <p:nvPr/>
        </p:nvSpPr>
        <p:spPr>
          <a:xfrm>
            <a:off x="502920" y="1143000"/>
            <a:ext cx="8229600" cy="5029200"/>
          </a:xfrm>
          <a:prstGeom prst="rect">
            <a:avLst/>
          </a:prstGeom>
          <a:noFill/>
        </p:spPr>
        <p:txBody>
          <a:bodyPr wrap="square">
            <a:spAutoFit/>
          </a:bodyPr>
          <a:lstStyle/>
          <a:p>
            <a:pPr>
              <a:spcAft>
                <a:spcPts val="1000"/>
              </a:spcAft>
              <a:defRPr sz="2000">
                <a:solidFill>
                  <a:srgbClr val="0F172A"/>
                </a:solidFill>
              </a:defRPr>
            </a:pPr>
            <a:r>
              <a:t>• 6410 Quinpool Road — dead tree, sparking near lines, 96 days waiting</a:t>
            </a:r>
          </a:p>
          <a:p>
            <a:pPr>
              <a:spcAft>
                <a:spcPts val="1000"/>
              </a:spcAft>
              <a:defRPr sz="2000">
                <a:solidFill>
                  <a:srgbClr val="0F172A"/>
                </a:solidFill>
              </a:defRPr>
            </a:pPr>
            <a:r>
              <a:t>• Text + photo in → hazard tags, danger score, priority band</a:t>
            </a:r>
          </a:p>
          <a:p>
            <a:pPr>
              <a:spcAft>
                <a:spcPts val="1000"/>
              </a:spcAft>
              <a:defRPr sz="2000">
                <a:solidFill>
                  <a:srgbClr val="0F172A"/>
                </a:solidFill>
              </a:defRPr>
            </a:pPr>
            <a:r>
              <a:t>• Escalation floor: imminent hazard cannot sit at “Medium” because it is new</a:t>
            </a:r>
          </a:p>
          <a:p>
            <a:pPr>
              <a:spcAft>
                <a:spcPts val="1000"/>
              </a:spcAft>
              <a:defRPr sz="2000">
                <a:solidFill>
                  <a:srgbClr val="0F172A"/>
                </a:solidFill>
              </a:defRPr>
            </a:pPr>
            <a:r>
              <a:t>• Staff see queue rank #1, map pin, and a printable field poster</a:t>
            </a:r>
          </a:p>
          <a:p>
            <a:pPr>
              <a:spcAft>
                <a:spcPts val="1000"/>
              </a:spcAft>
              <a:defRPr sz="1800">
                <a:solidFill>
                  <a:srgbClr val="475569"/>
                </a:solidFill>
              </a:defRPr>
            </a:pPr>
          </a:p>
          <a:p>
            <a:pPr>
              <a:spcAft>
                <a:spcPts val="1000"/>
              </a:spcAft>
              <a:defRPr sz="1800" i="1">
                <a:solidFill>
                  <a:srgbClr val="475569"/>
                </a:solidFill>
              </a:defRPr>
            </a:pPr>
            <a:r>
              <a:t>Live path: / → submit · /admin → triage · detail → same-day bundle map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229600" cy="640080"/>
          </a:xfrm>
          <a:prstGeom prst="rect">
            <a:avLst/>
          </a:prstGeom>
          <a:noFill/>
        </p:spPr>
        <p:txBody>
          <a:bodyPr wrap="none">
            <a:spAutoFit/>
          </a:bodyPr>
          <a:lstStyle/>
          <a:p>
            <a:pPr>
              <a:defRPr sz="2800" b="1"/>
            </a:pPr>
            <a:r>
              <a:t>Transparent scoring (staff can argue with it)</a:t>
            </a:r>
          </a:p>
        </p:txBody>
      </p:sp>
      <p:sp>
        <p:nvSpPr>
          <p:cNvPr id="3" name="TextBox 2"/>
          <p:cNvSpPr txBox="1"/>
          <p:nvPr/>
        </p:nvSpPr>
        <p:spPr>
          <a:xfrm>
            <a:off x="502920" y="1051560"/>
            <a:ext cx="3840480" cy="5029200"/>
          </a:xfrm>
          <a:prstGeom prst="rect">
            <a:avLst/>
          </a:prstGeom>
          <a:noFill/>
        </p:spPr>
        <p:txBody>
          <a:bodyPr wrap="square">
            <a:spAutoFit/>
          </a:bodyPr>
          <a:lstStyle/>
          <a:p>
            <a:pPr>
              <a:defRPr sz="1600" b="1">
                <a:solidFill>
                  <a:srgbClr val="475569"/>
                </a:solidFill>
              </a:defRPr>
            </a:pPr>
            <a:r>
              <a:t>Four components</a:t>
            </a:r>
          </a:p>
          <a:p>
            <a:pPr>
              <a:spcAft>
                <a:spcPts val="600"/>
              </a:spcAft>
              <a:defRPr sz="1700"/>
            </a:pPr>
            <a:r>
              <a:t>• Danger 50% — rules + optional vision/LLM</a:t>
            </a:r>
          </a:p>
          <a:p>
            <a:pPr>
              <a:spcAft>
                <a:spcPts val="600"/>
              </a:spcAft>
              <a:defRPr sz="1700"/>
            </a:pPr>
            <a:r>
              <a:t>• Wait 25% — backlog age</a:t>
            </a:r>
          </a:p>
          <a:p>
            <a:pPr>
              <a:spcAft>
                <a:spcPts val="600"/>
              </a:spcAft>
              <a:defRPr sz="1700"/>
            </a:pPr>
            <a:r>
              <a:t>• Location 15% — arterial / foot traffic</a:t>
            </a:r>
          </a:p>
          <a:p>
            <a:pPr>
              <a:spcAft>
                <a:spcPts val="600"/>
              </a:spcAft>
              <a:defRPr sz="1700"/>
            </a:pPr>
            <a:r>
              <a:t>• Review 10% — “Unsure” ≠ safe or unsafe</a:t>
            </a:r>
          </a:p>
        </p:txBody>
      </p:sp>
      <p:sp>
        <p:nvSpPr>
          <p:cNvPr id="4" name="TextBox 3"/>
          <p:cNvSpPr txBox="1"/>
          <p:nvPr/>
        </p:nvSpPr>
        <p:spPr>
          <a:xfrm>
            <a:off x="4663440" y="1051560"/>
            <a:ext cx="3840480" cy="5029200"/>
          </a:xfrm>
          <a:prstGeom prst="rect">
            <a:avLst/>
          </a:prstGeom>
          <a:noFill/>
        </p:spPr>
        <p:txBody>
          <a:bodyPr wrap="square">
            <a:spAutoFit/>
          </a:bodyPr>
          <a:lstStyle/>
          <a:p>
            <a:pPr>
              <a:defRPr sz="1600" b="1">
                <a:solidFill>
                  <a:srgbClr val="475569"/>
                </a:solidFill>
              </a:defRPr>
            </a:pPr>
            <a:r>
              <a:t>Same-day bundling</a:t>
            </a:r>
          </a:p>
          <a:p>
            <a:pPr>
              <a:spcAft>
                <a:spcPts val="600"/>
              </a:spcAft>
              <a:defRPr sz="1700"/>
            </a:pPr>
            <a:r>
              <a:t>• Rank by severity earned per hour of shift</a:t>
            </a:r>
          </a:p>
          <a:p>
            <a:pPr>
              <a:spcAft>
                <a:spcPts val="600"/>
              </a:spcAft>
              <a:defRPr sz="1700"/>
            </a:pPr>
            <a:r>
              <a:t>• Discount by proximity (400 m half-life)</a:t>
            </a:r>
          </a:p>
          <a:p>
            <a:pPr>
              <a:spcAft>
                <a:spcPts val="600"/>
              </a:spcAft>
              <a:defRPr sz="1700"/>
            </a:pPr>
            <a:r>
              <a:t>• Map: priority pins + OSM streets</a:t>
            </a:r>
          </a:p>
          <a:p>
            <a:pPr>
              <a:spcAft>
                <a:spcPts val="600"/>
              </a:spcAft>
              <a:defRPr sz="1700"/>
            </a:pPr>
            <a:r>
              <a:t>• Plan: anchor job + numbered add-ons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8229600" cy="731520"/>
          </a:xfrm>
          <a:prstGeom prst="rect">
            <a:avLst/>
          </a:prstGeom>
          <a:noFill/>
        </p:spPr>
        <p:txBody>
          <a:bodyPr wrap="none">
            <a:spAutoFit/>
          </a:bodyPr>
          <a:lstStyle/>
          <a:p>
            <a:pPr>
              <a:defRPr sz="2800" b="1">
                <a:solidFill>
                  <a:srgbClr val="0F172A"/>
                </a:solidFill>
              </a:defRPr>
            </a:pPr>
            <a:r>
              <a:t>What we shipped in the hackathon</a:t>
            </a:r>
          </a:p>
        </p:txBody>
      </p:sp>
      <p:sp>
        <p:nvSpPr>
          <p:cNvPr id="4" name="TextBox 3"/>
          <p:cNvSpPr txBox="1"/>
          <p:nvPr/>
        </p:nvSpPr>
        <p:spPr>
          <a:xfrm>
            <a:off x="502920" y="1143000"/>
            <a:ext cx="8229600" cy="5029200"/>
          </a:xfrm>
          <a:prstGeom prst="rect">
            <a:avLst/>
          </a:prstGeom>
          <a:noFill/>
        </p:spPr>
        <p:txBody>
          <a:bodyPr wrap="square">
            <a:spAutoFit/>
          </a:bodyPr>
          <a:lstStyle/>
          <a:p>
            <a:pPr>
              <a:spcAft>
                <a:spcPts val="1000"/>
              </a:spcAft>
              <a:defRPr sz="2000">
                <a:solidFill>
                  <a:srgbClr val="0F172A"/>
                </a:solidFill>
              </a:defRPr>
            </a:pPr>
            <a:r>
              <a:t>• Public intake at / with geocoding (Google + offline gazetteer fallback)</a:t>
            </a:r>
          </a:p>
          <a:p>
            <a:pPr>
              <a:spcAft>
                <a:spcPts val="1000"/>
              </a:spcAft>
              <a:defRPr sz="2000">
                <a:solidFill>
                  <a:srgbClr val="0F172A"/>
                </a:solidFill>
              </a:defRPr>
            </a:pPr>
            <a:r>
              <a:t>• Staff queue: filters, live map, ranked table, gated /admin login</a:t>
            </a:r>
          </a:p>
          <a:p>
            <a:pPr>
              <a:spcAft>
                <a:spcPts val="1000"/>
              </a:spcAft>
              <a:defRPr sz="2000">
                <a:solidFill>
                  <a:srgbClr val="0F172A"/>
                </a:solidFill>
              </a:defRPr>
            </a:pPr>
            <a:r>
              <a:t>• Request detail: Google static maps, bundle overlay, status workflow</a:t>
            </a:r>
          </a:p>
          <a:p>
            <a:pPr>
              <a:spcAft>
                <a:spcPts val="1000"/>
              </a:spcAft>
              <a:defRPr sz="2000">
                <a:solidFill>
                  <a:srgbClr val="0F172A"/>
                </a:solidFill>
              </a:defRPr>
            </a:pPr>
            <a:r>
              <a:t>• Supabase Postgres + optional GLM/vision pipeline (degrades without keys)</a:t>
            </a:r>
          </a:p>
          <a:p>
            <a:pPr>
              <a:spcAft>
                <a:spcPts val="1000"/>
              </a:spcAft>
              <a:defRPr sz="2000">
                <a:solidFill>
                  <a:srgbClr val="0F172A"/>
                </a:solidFill>
              </a:defRPr>
            </a:pPr>
            <a:r>
              <a:t>• Duplicate detection, feedback capture, one-page print poster for crews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8229600" cy="731520"/>
          </a:xfrm>
          <a:prstGeom prst="rect">
            <a:avLst/>
          </a:prstGeom>
          <a:noFill/>
        </p:spPr>
        <p:txBody>
          <a:bodyPr wrap="none">
            <a:spAutoFit/>
          </a:bodyPr>
          <a:lstStyle/>
          <a:p>
            <a:pPr>
              <a:defRPr sz="2800" b="1">
                <a:solidFill>
                  <a:srgbClr val="0F172A"/>
                </a:solidFill>
              </a:defRPr>
            </a:pPr>
            <a:r>
              <a:t>3-minute demo script</a:t>
            </a:r>
          </a:p>
        </p:txBody>
      </p:sp>
      <p:sp>
        <p:nvSpPr>
          <p:cNvPr id="4" name="TextBox 3"/>
          <p:cNvSpPr txBox="1"/>
          <p:nvPr/>
        </p:nvSpPr>
        <p:spPr>
          <a:xfrm>
            <a:off x="502920" y="1143000"/>
            <a:ext cx="8229600" cy="5029200"/>
          </a:xfrm>
          <a:prstGeom prst="rect">
            <a:avLst/>
          </a:prstGeom>
          <a:noFill/>
        </p:spPr>
        <p:txBody>
          <a:bodyPr wrap="square">
            <a:spAutoFit/>
          </a:bodyPr>
          <a:lstStyle/>
          <a:p>
            <a:pPr>
              <a:spcAft>
                <a:spcPts val="1000"/>
              </a:spcAft>
              <a:defRPr sz="1800" i="1">
                <a:solidFill>
                  <a:srgbClr val="475569"/>
                </a:solidFill>
              </a:defRPr>
            </a:pPr>
            <a:r>
              <a:t>1. Resident form → submit Quinpool-style hazard (30 sec)</a:t>
            </a:r>
          </a:p>
          <a:p>
            <a:pPr>
              <a:spcAft>
                <a:spcPts val="1000"/>
              </a:spcAft>
              <a:defRPr sz="1800" i="1">
                <a:solidFill>
                  <a:srgbClr val="475569"/>
                </a:solidFill>
              </a:defRPr>
            </a:pPr>
            <a:r>
              <a:t>2. Admin login → queue map + #1 row (30 sec)</a:t>
            </a:r>
          </a:p>
          <a:p>
            <a:pPr>
              <a:spcAft>
                <a:spcPts val="1000"/>
              </a:spcAft>
              <a:defRPr sz="1800" i="1">
                <a:solidFill>
                  <a:srgbClr val="475569"/>
                </a:solidFill>
              </a:defRPr>
            </a:pPr>
            <a:r>
              <a:t>3. Open detail → poster, map, bundle plan (60 sec)</a:t>
            </a:r>
          </a:p>
          <a:p>
            <a:pPr>
              <a:spcAft>
                <a:spcPts val="1000"/>
              </a:spcAft>
              <a:defRPr sz="1800" i="1">
                <a:solidFill>
                  <a:srgbClr val="475569"/>
                </a:solidFill>
              </a:defRPr>
            </a:pPr>
            <a:r>
              <a:t>4. One sentence: order of inspection, not safety verdict (15 sec)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2344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554480"/>
            <a:ext cx="8046720" cy="2011680"/>
          </a:xfrm>
          <a:prstGeom prst="rect">
            <a:avLst/>
          </a:prstGeom>
          <a:noFill/>
        </p:spPr>
        <p:txBody>
          <a:bodyPr wrap="square">
            <a:spAutoFit/>
          </a:bodyPr>
          <a:lstStyle/>
          <a:p>
            <a:pPr>
              <a:defRPr sz="4000" b="1">
                <a:solidFill>
                  <a:srgbClr val="0F172A"/>
                </a:solidFill>
              </a:defRPr>
            </a:pPr>
            <a:r>
              <a:t>Thank you</a:t>
            </a:r>
          </a:p>
          <a:p>
            <a:pPr>
              <a:spcBef>
                <a:spcPts val="1200"/>
              </a:spcBef>
              <a:defRPr sz="2000">
                <a:solidFill>
                  <a:srgbClr val="475569"/>
                </a:solidFill>
              </a:defRPr>
            </a:pPr>
            <a:r>
              <a:t>Which tree falls first? → Now we know where to drive first.</a:t>
            </a:r>
          </a:p>
        </p:txBody>
      </p:sp>
      <p:sp>
        <p:nvSpPr>
          <p:cNvPr id="4" name="TextBox 3"/>
          <p:cNvSpPr txBox="1"/>
          <p:nvPr/>
        </p:nvSpPr>
        <p:spPr>
          <a:xfrm>
            <a:off x="548640" y="6217920"/>
            <a:ext cx="7315200" cy="365760"/>
          </a:xfrm>
          <a:prstGeom prst="rect">
            <a:avLst/>
          </a:prstGeom>
          <a:noFill/>
        </p:spPr>
        <p:txBody>
          <a:bodyPr wrap="none">
            <a:spAutoFit/>
          </a:bodyPr>
          <a:lstStyle/>
          <a:p>
            <a:pPr>
              <a:defRPr sz="1100">
                <a:solidFill>
                  <a:srgbClr val="475569"/>
                </a:solidFill>
              </a:defRPr>
            </a:pPr>
            <a:r>
              <a:t>Halifax Regional Municipality · Urban Forestry · Hackathon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